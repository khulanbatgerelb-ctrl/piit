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image" Target="../media/image-3-7.png"/><Relationship Id="rId10" Type="http://schemas.openxmlformats.org/officeDocument/2006/relationships/image" Target="../media/image-3-10.png"/><Relationship Id="rId11" Type="http://schemas.openxmlformats.org/officeDocument/2006/relationships/image" Target="../media/image-3-2.png"/><Relationship Id="rId12" Type="http://schemas.openxmlformats.org/officeDocument/2006/relationships/image" Target="../media/image-3-3.png"/><Relationship Id="rId13" Type="http://schemas.openxmlformats.org/officeDocument/2006/relationships/image" Target="../media/image-3-4.png"/><Relationship Id="rId14" Type="http://schemas.openxmlformats.org/officeDocument/2006/relationships/image" Target="../media/image-3-4.png"/><Relationship Id="rId15" Type="http://schemas.openxmlformats.org/officeDocument/2006/relationships/image" Target="../media/image-3-4.png"/><Relationship Id="rId16" Type="http://schemas.openxmlformats.org/officeDocument/2006/relationships/image" Target="../media/image-3-7.png"/><Relationship Id="rId17" Type="http://schemas.openxmlformats.org/officeDocument/2006/relationships/image" Target="../media/image-3-7.png"/><Relationship Id="rId18" Type="http://schemas.openxmlformats.org/officeDocument/2006/relationships/image" Target="../media/image-3-7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7.png"/><Relationship Id="rId10" Type="http://schemas.openxmlformats.org/officeDocument/2006/relationships/image" Target="../media/image-4-10.png"/><Relationship Id="rId11" Type="http://schemas.openxmlformats.org/officeDocument/2006/relationships/image" Target="../media/image-4-2.png"/><Relationship Id="rId12" Type="http://schemas.openxmlformats.org/officeDocument/2006/relationships/image" Target="../media/image-4-2.png"/><Relationship Id="rId13" Type="http://schemas.openxmlformats.org/officeDocument/2006/relationships/image" Target="../media/image-4-6.png"/><Relationship Id="rId14" Type="http://schemas.openxmlformats.org/officeDocument/2006/relationships/image" Target="../media/image-4-6.png"/><Relationship Id="rId15" Type="http://schemas.openxmlformats.org/officeDocument/2006/relationships/image" Target="../media/image-4-6.png"/><Relationship Id="rId16" Type="http://schemas.openxmlformats.org/officeDocument/2006/relationships/image" Target="../media/image-4-7.png"/><Relationship Id="rId17" Type="http://schemas.openxmlformats.org/officeDocument/2006/relationships/image" Target="../media/image-4-17.png"/><Relationship Id="rId18" Type="http://schemas.openxmlformats.org/officeDocument/2006/relationships/image" Target="../media/image-4-17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7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2.png"/><Relationship Id="rId12" Type="http://schemas.openxmlformats.org/officeDocument/2006/relationships/image" Target="../media/image-5-2.png"/><Relationship Id="rId13" Type="http://schemas.openxmlformats.org/officeDocument/2006/relationships/image" Target="../media/image-5-2.png"/><Relationship Id="rId14" Type="http://schemas.openxmlformats.org/officeDocument/2006/relationships/image" Target="../media/image-5-2.png"/><Relationship Id="rId15" Type="http://schemas.openxmlformats.org/officeDocument/2006/relationships/image" Target="../media/image-5-15.png"/><Relationship Id="rId16" Type="http://schemas.openxmlformats.org/officeDocument/2006/relationships/image" Target="../media/image-5-7.png"/><Relationship Id="rId17" Type="http://schemas.openxmlformats.org/officeDocument/2006/relationships/image" Target="../media/image-5-7.png"/><Relationship Id="rId18" Type="http://schemas.openxmlformats.org/officeDocument/2006/relationships/image" Target="../media/image-5-9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7.png"/><Relationship Id="rId10" Type="http://schemas.openxmlformats.org/officeDocument/2006/relationships/image" Target="../media/image-6-10.png"/><Relationship Id="rId11" Type="http://schemas.openxmlformats.org/officeDocument/2006/relationships/image" Target="../media/image-6-7.png"/><Relationship Id="rId12" Type="http://schemas.openxmlformats.org/officeDocument/2006/relationships/image" Target="../media/image-6-8.png"/><Relationship Id="rId13" Type="http://schemas.openxmlformats.org/officeDocument/2006/relationships/image" Target="../media/image-6-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10.png"/><Relationship Id="rId11" Type="http://schemas.openxmlformats.org/officeDocument/2006/relationships/image" Target="../media/image-7-2.png"/><Relationship Id="rId12" Type="http://schemas.openxmlformats.org/officeDocument/2006/relationships/image" Target="../media/image-7-3.png"/><Relationship Id="rId13" Type="http://schemas.openxmlformats.org/officeDocument/2006/relationships/image" Target="../media/image-7-3.png"/><Relationship Id="rId14" Type="http://schemas.openxmlformats.org/officeDocument/2006/relationships/image" Target="../media/image-7-3.png"/><Relationship Id="rId15" Type="http://schemas.openxmlformats.org/officeDocument/2006/relationships/image" Target="../media/image-7-3.png"/><Relationship Id="rId16" Type="http://schemas.openxmlformats.org/officeDocument/2006/relationships/image" Target="../media/image-7-7.png"/><Relationship Id="rId17" Type="http://schemas.openxmlformats.org/officeDocument/2006/relationships/image" Target="../media/image-7-17.png"/><Relationship Id="rId18" Type="http://schemas.openxmlformats.org/officeDocument/2006/relationships/image" Target="../media/image-7-7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2305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2305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669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aitools/icon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19" y="6944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EXPLORATION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Compare AI Tools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9436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look at 10 leading AI tools across five categories: GenAI Assistants, Presentation &amp; Design, Coding, Research, and Image Generation.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48920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2305C"/>
          </a:solidFill>
          <a:ln/>
        </p:spPr>
      </p:sp>
      <p:sp>
        <p:nvSpPr>
          <p:cNvPr id="11" name="Shape 8"/>
          <p:cNvSpPr/>
          <p:nvPr/>
        </p:nvSpPr>
        <p:spPr>
          <a:xfrm>
            <a:off x="758952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aitools/icon_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" y="515950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55595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Assistants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852928" y="48920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2305C"/>
          </a:solidFill>
          <a:ln/>
        </p:spPr>
      </p:sp>
      <p:sp>
        <p:nvSpPr>
          <p:cNvPr id="15" name="Shape 11"/>
          <p:cNvSpPr/>
          <p:nvPr/>
        </p:nvSpPr>
        <p:spPr>
          <a:xfrm>
            <a:off x="3017520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aitools/icon_palet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390" y="515950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90088" y="55595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Design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111496" y="48920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2305C"/>
          </a:solidFill>
          <a:ln/>
        </p:spPr>
      </p:sp>
      <p:sp>
        <p:nvSpPr>
          <p:cNvPr id="19" name="Shape 14"/>
          <p:cNvSpPr/>
          <p:nvPr/>
        </p:nvSpPr>
        <p:spPr>
          <a:xfrm>
            <a:off x="5276088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aitools/icon_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958" y="515950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48656" y="55595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370064" y="48920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2305C"/>
          </a:solidFill>
          <a:ln/>
        </p:spPr>
      </p:sp>
      <p:sp>
        <p:nvSpPr>
          <p:cNvPr id="23" name="Shape 17"/>
          <p:cNvSpPr/>
          <p:nvPr/>
        </p:nvSpPr>
        <p:spPr>
          <a:xfrm>
            <a:off x="7534656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/home/claude/aitools/icon_boo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7526" y="5159502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07224" y="55595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9628632" y="489204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12305C"/>
          </a:solidFill>
          <a:ln/>
        </p:spPr>
      </p:sp>
      <p:sp>
        <p:nvSpPr>
          <p:cNvPr id="27" name="Shape 20"/>
          <p:cNvSpPr/>
          <p:nvPr/>
        </p:nvSpPr>
        <p:spPr>
          <a:xfrm>
            <a:off x="9793224" y="5056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5" descr="/home/claude/aitools/icon_ima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6094" y="5159502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65792" y="555955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9436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AI Tools Assignment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Compared These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criteria applied consistently to every tool, across five popular AI categories.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7" name="Image 0" descr="/home/claude/aitools/icon_robo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188845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79192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Company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044952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the company behind 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187452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2075688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12" name="Image 1" descr="/home/claude/aitools/icon_lay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218884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15968" y="2679192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315968" y="3044952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capabilities and typical applications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680960" y="187452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82128" y="2075688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17" name="Image 2" descr="/home/claude/aitools/icon_char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285" y="2188845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82128" y="2679192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82128" y="3044952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tiers, pricing if available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913632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22" name="Image 3" descr="/home/claude/aitools/icon_glob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422795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4718304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49808" y="5084064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Windows/macOS, Android/iOS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114800" y="3913632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15968" y="4114800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27" name="Image 4" descr="/home/claude/aitools/icon_search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4227957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15968" y="4718304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315968" y="5084064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tested on at least one pair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680960" y="3913632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882128" y="4114800"/>
            <a:ext cx="502920" cy="502920"/>
          </a:xfrm>
          <a:prstGeom prst="ellipse">
            <a:avLst/>
          </a:prstGeom>
          <a:solidFill>
            <a:srgbClr val="E8F1F4"/>
          </a:solidFill>
          <a:ln/>
        </p:spPr>
      </p:sp>
      <p:pic>
        <p:nvPicPr>
          <p:cNvPr id="32" name="Image 5" descr="/home/claude/aitools/icon_bulb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285" y="4227957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882128" y="4718304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882128" y="5084064"/>
            <a:ext cx="2907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tool does well — and not so well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 · GENAI ASSISTANTS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vs. Claude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conversational AI assistants for writing, reasoning, research, and everyday productivity.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ratings are aggregate platform scores (Trustpilot/G2) — Trustpilot skews toward billing &amp; support complaints, not day-to-day output quality; see slide 9 for full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58568"/>
            <a:ext cx="5349240" cy="3931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aitools/icon_comment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2483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pic>
        <p:nvPicPr>
          <p:cNvPr id="13" name="Image 1" descr="/home/claude/aitools/icon_starful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3" y="2002536"/>
            <a:ext cx="137160" cy="137160"/>
          </a:xfrm>
          <a:prstGeom prst="rect">
            <a:avLst/>
          </a:prstGeom>
        </p:spPr>
      </p:pic>
      <p:pic>
        <p:nvPicPr>
          <p:cNvPr id="14" name="Image 2" descr="/home/claude/aitools/icon_starhalf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262" y="2002536"/>
            <a:ext cx="137160" cy="137160"/>
          </a:xfrm>
          <a:prstGeom prst="rect">
            <a:avLst/>
          </a:prstGeom>
        </p:spPr>
      </p:pic>
      <p:pic>
        <p:nvPicPr>
          <p:cNvPr id="15" name="Image 3" descr="/home/claude/aitools/icon_starempty_white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224882" y="2002536"/>
            <a:ext cx="137160" cy="137160"/>
          </a:xfrm>
          <a:prstGeom prst="rect">
            <a:avLst/>
          </a:prstGeom>
        </p:spPr>
      </p:pic>
      <p:pic>
        <p:nvPicPr>
          <p:cNvPr id="16" name="Image 4" descr="/home/claude/aitools/icon_starempty_white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5378501" y="2002536"/>
            <a:ext cx="137160" cy="137160"/>
          </a:xfrm>
          <a:prstGeom prst="rect">
            <a:avLst/>
          </a:prstGeom>
        </p:spPr>
      </p:pic>
      <p:pic>
        <p:nvPicPr>
          <p:cNvPr id="17" name="Image 5" descr="/home/claude/aitools/icon_starempty_white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5532120" y="2002536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0324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1.6/5 · Trustpilot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77724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7724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chat: text, image, voice, video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Gmail, Docs &amp; Search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reports &amp; Gemini Live voice mode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image generation built in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7724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(Gemini 3 Flash + daily Pro access). Paid: AI Plus $7.99/mo, AI Pro $19.99/mo, AI Ultra from $99.99/mo.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7724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everyday users &amp; Google Workspace teams who want AI woven into Gmail/Docs/Search.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7724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26" name="Image 6" descr="/home/claude/aitools/icon_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87044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8" name="Image 7" descr="/home/claude/aitools/icon_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" y="587044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3652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30" name="Image 8" descr="/home/claude/aitools/icon_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587044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6720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12648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2648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23"/>
          <p:cNvSpPr/>
          <p:nvPr/>
        </p:nvSpPr>
        <p:spPr>
          <a:xfrm>
            <a:off x="6126480" y="2258568"/>
            <a:ext cx="53492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2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/home/claude/aitools/icon_robot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17" y="2124837"/>
            <a:ext cx="276606" cy="27660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694944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pic>
        <p:nvPicPr>
          <p:cNvPr id="39" name="Image 10" descr="/home/claude/aitools/icon_starfull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5483" y="2002536"/>
            <a:ext cx="137160" cy="137160"/>
          </a:xfrm>
          <a:prstGeom prst="rect">
            <a:avLst/>
          </a:prstGeom>
        </p:spPr>
      </p:pic>
      <p:pic>
        <p:nvPicPr>
          <p:cNvPr id="40" name="Image 11" descr="/home/claude/aitools/icon_starhalf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9102" y="2002536"/>
            <a:ext cx="137160" cy="137160"/>
          </a:xfrm>
          <a:prstGeom prst="rect">
            <a:avLst/>
          </a:prstGeom>
        </p:spPr>
      </p:pic>
      <p:pic>
        <p:nvPicPr>
          <p:cNvPr id="41" name="Image 12" descr="/home/claude/aitools/icon_starempty_white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>
            <a:off x="10802722" y="2002536"/>
            <a:ext cx="137160" cy="137160"/>
          </a:xfrm>
          <a:prstGeom prst="rect">
            <a:avLst/>
          </a:prstGeom>
        </p:spPr>
      </p:pic>
      <p:pic>
        <p:nvPicPr>
          <p:cNvPr id="42" name="Image 13" descr="/home/claude/aitools/icon_starempty_white.png">    </p:cNvPr>
          <p:cNvPicPr>
            <a:picLocks noChangeAspect="1"/>
          </p:cNvPicPr>
          <p:nvPr/>
        </p:nvPicPr>
        <p:blipFill>
          <a:blip r:embed="rId14">
            <a:alphaModFix amt="55000"/>
          </a:blip>
          <a:stretch>
            <a:fillRect/>
          </a:stretch>
        </p:blipFill>
        <p:spPr>
          <a:xfrm>
            <a:off x="10956341" y="2002536"/>
            <a:ext cx="137160" cy="137160"/>
          </a:xfrm>
          <a:prstGeom prst="rect">
            <a:avLst/>
          </a:prstGeom>
        </p:spPr>
      </p:pic>
      <p:pic>
        <p:nvPicPr>
          <p:cNvPr id="43" name="Image 14" descr="/home/claude/aitools/icon_starempty_white.png">    </p:cNvPr>
          <p:cNvPicPr>
            <a:picLocks noChangeAspect="1"/>
          </p:cNvPicPr>
          <p:nvPr/>
        </p:nvPicPr>
        <p:blipFill>
          <a:blip r:embed="rId15">
            <a:alphaModFix amt="55000"/>
          </a:blip>
          <a:stretch>
            <a:fillRect/>
          </a:stretch>
        </p:blipFill>
        <p:spPr>
          <a:xfrm>
            <a:off x="11109960" y="2002536"/>
            <a:ext cx="137160" cy="13716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58108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1.6/5 · Trustpilot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635508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46" name="Text 29"/>
          <p:cNvSpPr/>
          <p:nvPr/>
        </p:nvSpPr>
        <p:spPr>
          <a:xfrm>
            <a:off x="635508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long-document analysis (large context window)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Careful, well-structured writing &amp; coding help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Artifacts, and agentic Claude Code/Cowork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approach emphasizing safety</a:t>
            </a:r>
            <a:endParaRPr lang="en-US" sz="1100" dirty="0"/>
          </a:p>
        </p:txBody>
      </p:sp>
      <p:sp>
        <p:nvSpPr>
          <p:cNvPr id="47" name="Text 30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48" name="Text 31"/>
          <p:cNvSpPr/>
          <p:nvPr/>
        </p:nvSpPr>
        <p:spPr>
          <a:xfrm>
            <a:off x="635508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available. Pro $20/mo ($17/mo annual). Max plans $100–$200/mo. Team from $20-25/seat/mo; custom Enterprise.</a:t>
            </a:r>
            <a:endParaRPr lang="en-US" sz="1100" dirty="0"/>
          </a:p>
        </p:txBody>
      </p:sp>
      <p:sp>
        <p:nvSpPr>
          <p:cNvPr id="49" name="Text 32"/>
          <p:cNvSpPr/>
          <p:nvPr/>
        </p:nvSpPr>
        <p:spPr>
          <a:xfrm>
            <a:off x="635508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0" name="Text 33"/>
          <p:cNvSpPr/>
          <p:nvPr/>
        </p:nvSpPr>
        <p:spPr>
          <a:xfrm>
            <a:off x="635508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Writers, developers &amp; professionals handling long documents who value precise, careful output.</a:t>
            </a:r>
            <a:endParaRPr lang="en-US" sz="1100" dirty="0"/>
          </a:p>
        </p:txBody>
      </p:sp>
      <p:sp>
        <p:nvSpPr>
          <p:cNvPr id="51" name="Text 34"/>
          <p:cNvSpPr/>
          <p:nvPr/>
        </p:nvSpPr>
        <p:spPr>
          <a:xfrm>
            <a:off x="635508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52" name="Image 15" descr="/home/claude/aitools/icon_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80" y="5870448"/>
            <a:ext cx="182880" cy="18288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8368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54" name="Image 16" descr="/home/claude/aitools/icon_check_tea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760" y="5870448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821436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56" name="Image 17" descr="/home/claude/aitools/icon_check_tea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6440" y="5870448"/>
            <a:ext cx="182880" cy="182880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98450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58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59" name="Text 39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 · PRESENTATION &amp;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 vs. Gamma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design tools for building presentations, documents, and visual content quickly.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ratings are aggregate platform scores (Trustpilot/G2) — Trustpilot skews toward billing &amp; support complaints, not day-to-day output quality; see slide 9 for full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58568"/>
            <a:ext cx="5349240" cy="3931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aitools/icon_palet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2483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Pty Ltd</a:t>
            </a:r>
            <a:endParaRPr lang="en-US" sz="1100" dirty="0"/>
          </a:p>
        </p:txBody>
      </p:sp>
      <p:pic>
        <p:nvPicPr>
          <p:cNvPr id="13" name="Image 1" descr="/home/claude/aitools/icon_starful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3" y="2002536"/>
            <a:ext cx="137160" cy="137160"/>
          </a:xfrm>
          <a:prstGeom prst="rect">
            <a:avLst/>
          </a:prstGeom>
        </p:spPr>
      </p:pic>
      <p:pic>
        <p:nvPicPr>
          <p:cNvPr id="14" name="Image 2" descr="/home/claude/aitools/icon_starfu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262" y="2002536"/>
            <a:ext cx="137160" cy="137160"/>
          </a:xfrm>
          <a:prstGeom prst="rect">
            <a:avLst/>
          </a:prstGeom>
        </p:spPr>
      </p:pic>
      <p:pic>
        <p:nvPicPr>
          <p:cNvPr id="15" name="Image 3" descr="/home/claude/aitools/icon_starful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882" y="2002536"/>
            <a:ext cx="137160" cy="137160"/>
          </a:xfrm>
          <a:prstGeom prst="rect">
            <a:avLst/>
          </a:prstGeom>
        </p:spPr>
      </p:pic>
      <p:pic>
        <p:nvPicPr>
          <p:cNvPr id="16" name="Image 4" descr="/home/claude/aitools/icon_starhalf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501" y="2002536"/>
            <a:ext cx="137160" cy="137160"/>
          </a:xfrm>
          <a:prstGeom prst="rect">
            <a:avLst/>
          </a:prstGeom>
        </p:spPr>
      </p:pic>
      <p:pic>
        <p:nvPicPr>
          <p:cNvPr id="17" name="Image 5" descr="/home/claude/aitools/icon_starempty_white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5532120" y="2002536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0324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3.9/5 · Trustpilot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77724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7724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templates across presentations, social &amp; print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Design &amp; Magic Write AI assistance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brand-kit &amp; team collaboration tools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format support beyond slides (video, print)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7724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free plan, no credit limits. Canva Pro from ~$6.50–$13/user/mo. Enterprise pricing scales for large orgs.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7724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social teams, students, and non-designers who want templates for many content types.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7724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26" name="Image 6" descr="/home/claude/aitools/icon_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87044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8" name="Image 7" descr="/home/claude/aitools/icon_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" y="587044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3652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30" name="Image 8" descr="/home/claude/aitools/icon_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587044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6720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12648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2648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23"/>
          <p:cNvSpPr/>
          <p:nvPr/>
        </p:nvSpPr>
        <p:spPr>
          <a:xfrm>
            <a:off x="6126480" y="2258568"/>
            <a:ext cx="53492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2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/home/claude/aitools/icon_layers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17" y="2124837"/>
            <a:ext cx="276606" cy="27660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694944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00" dirty="0"/>
          </a:p>
        </p:txBody>
      </p:sp>
      <p:pic>
        <p:nvPicPr>
          <p:cNvPr id="39" name="Image 10" descr="/home/claude/aitools/icon_starfull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5483" y="2002536"/>
            <a:ext cx="137160" cy="137160"/>
          </a:xfrm>
          <a:prstGeom prst="rect">
            <a:avLst/>
          </a:prstGeom>
        </p:spPr>
      </p:pic>
      <p:pic>
        <p:nvPicPr>
          <p:cNvPr id="40" name="Image 11" descr="/home/claude/aitools/icon_starfull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9102" y="2002536"/>
            <a:ext cx="137160" cy="137160"/>
          </a:xfrm>
          <a:prstGeom prst="rect">
            <a:avLst/>
          </a:prstGeom>
        </p:spPr>
      </p:pic>
      <p:pic>
        <p:nvPicPr>
          <p:cNvPr id="41" name="Image 12" descr="/home/claude/aitools/icon_starempty_white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>
            <a:off x="10802722" y="2002536"/>
            <a:ext cx="137160" cy="137160"/>
          </a:xfrm>
          <a:prstGeom prst="rect">
            <a:avLst/>
          </a:prstGeom>
        </p:spPr>
      </p:pic>
      <p:pic>
        <p:nvPicPr>
          <p:cNvPr id="42" name="Image 13" descr="/home/claude/aitools/icon_starempty_white.png">    </p:cNvPr>
          <p:cNvPicPr>
            <a:picLocks noChangeAspect="1"/>
          </p:cNvPicPr>
          <p:nvPr/>
        </p:nvPicPr>
        <p:blipFill>
          <a:blip r:embed="rId14">
            <a:alphaModFix amt="55000"/>
          </a:blip>
          <a:stretch>
            <a:fillRect/>
          </a:stretch>
        </p:blipFill>
        <p:spPr>
          <a:xfrm>
            <a:off x="10956341" y="2002536"/>
            <a:ext cx="137160" cy="137160"/>
          </a:xfrm>
          <a:prstGeom prst="rect">
            <a:avLst/>
          </a:prstGeom>
        </p:spPr>
      </p:pic>
      <p:pic>
        <p:nvPicPr>
          <p:cNvPr id="43" name="Image 14" descr="/home/claude/aitools/icon_starempty_white.png">    </p:cNvPr>
          <p:cNvPicPr>
            <a:picLocks noChangeAspect="1"/>
          </p:cNvPicPr>
          <p:nvPr/>
        </p:nvPicPr>
        <p:blipFill>
          <a:blip r:embed="rId15">
            <a:alphaModFix amt="55000"/>
          </a:blip>
          <a:stretch>
            <a:fillRect/>
          </a:stretch>
        </p:blipFill>
        <p:spPr>
          <a:xfrm>
            <a:off x="11109960" y="2002536"/>
            <a:ext cx="137160" cy="13716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58108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2.0/5 · Trustpilot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635508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46" name="Text 29"/>
          <p:cNvSpPr/>
          <p:nvPr/>
        </p:nvSpPr>
        <p:spPr>
          <a:xfrm>
            <a:off x="635508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Prompt-to-deck generation in under a minute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Card-based, web-native format (not rigid slides)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generates documents &amp; web pages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analytics on who viewed a shared deck</a:t>
            </a:r>
            <a:endParaRPr lang="en-US" sz="1100" dirty="0"/>
          </a:p>
        </p:txBody>
      </p:sp>
      <p:sp>
        <p:nvSpPr>
          <p:cNvPr id="47" name="Text 30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48" name="Text 31"/>
          <p:cNvSpPr/>
          <p:nvPr/>
        </p:nvSpPr>
        <p:spPr>
          <a:xfrm>
            <a:off x="635508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plan: one-time 400 AI credits. Paid Plus/Pro from ~$8–$20/mo; Team seats ~$20/seat/mo; custom Enterprise.</a:t>
            </a:r>
            <a:endParaRPr lang="en-US" sz="1100" dirty="0"/>
          </a:p>
        </p:txBody>
      </p:sp>
      <p:sp>
        <p:nvSpPr>
          <p:cNvPr id="49" name="Text 32"/>
          <p:cNvSpPr/>
          <p:nvPr/>
        </p:nvSpPr>
        <p:spPr>
          <a:xfrm>
            <a:off x="635508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0" name="Text 33"/>
          <p:cNvSpPr/>
          <p:nvPr/>
        </p:nvSpPr>
        <p:spPr>
          <a:xfrm>
            <a:off x="635508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professionals who need a polished deck fast from an outline, with minimal design effort.</a:t>
            </a:r>
            <a:endParaRPr lang="en-US" sz="1100" dirty="0"/>
          </a:p>
        </p:txBody>
      </p:sp>
      <p:sp>
        <p:nvSpPr>
          <p:cNvPr id="51" name="Text 34"/>
          <p:cNvSpPr/>
          <p:nvPr/>
        </p:nvSpPr>
        <p:spPr>
          <a:xfrm>
            <a:off x="635508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52" name="Image 15" descr="/home/claude/aitools/icon_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80" y="5870448"/>
            <a:ext cx="182880" cy="18288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8368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54" name="Image 16" descr="/home/claude/aitools/icon_times_gra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760" y="5870448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821436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56" name="Image 17" descr="/home/claude/aitools/icon_times_gra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6440" y="5870448"/>
            <a:ext cx="182880" cy="182880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98450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58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59" name="Text 39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 · CODING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 vs. Gemini Code Assist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pair-programmers that autocomplete, explain, and refactor code inside popular editors.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ratings are aggregate platform scores (Trustpilot/G2) — Trustpilot skews toward billing &amp; support complaints, not day-to-day output quality; see slide 9 for full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58568"/>
            <a:ext cx="5349240" cy="3931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aitools/icon_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2483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(Microsoft)</a:t>
            </a:r>
            <a:endParaRPr lang="en-US" sz="1100" dirty="0"/>
          </a:p>
        </p:txBody>
      </p:sp>
      <p:pic>
        <p:nvPicPr>
          <p:cNvPr id="13" name="Image 1" descr="/home/claude/aitools/icon_starful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3" y="2002536"/>
            <a:ext cx="137160" cy="137160"/>
          </a:xfrm>
          <a:prstGeom prst="rect">
            <a:avLst/>
          </a:prstGeom>
        </p:spPr>
      </p:pic>
      <p:pic>
        <p:nvPicPr>
          <p:cNvPr id="14" name="Image 2" descr="/home/claude/aitools/icon_starfu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262" y="2002536"/>
            <a:ext cx="137160" cy="137160"/>
          </a:xfrm>
          <a:prstGeom prst="rect">
            <a:avLst/>
          </a:prstGeom>
        </p:spPr>
      </p:pic>
      <p:pic>
        <p:nvPicPr>
          <p:cNvPr id="15" name="Image 3" descr="/home/claude/aitools/icon_starful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882" y="2002536"/>
            <a:ext cx="137160" cy="137160"/>
          </a:xfrm>
          <a:prstGeom prst="rect">
            <a:avLst/>
          </a:prstGeom>
        </p:spPr>
      </p:pic>
      <p:pic>
        <p:nvPicPr>
          <p:cNvPr id="16" name="Image 4" descr="/home/claude/aitools/icon_starfull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501" y="2002536"/>
            <a:ext cx="137160" cy="137160"/>
          </a:xfrm>
          <a:prstGeom prst="rect">
            <a:avLst/>
          </a:prstGeom>
        </p:spPr>
      </p:pic>
      <p:pic>
        <p:nvPicPr>
          <p:cNvPr id="17" name="Image 5" descr="/home/claude/aitools/icon_starhalf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002536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0324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 · G2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77724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7724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completions, chat &amp; multi-file agent mode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GitHub integration: PRs, issues, Actions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choice: GPT, Claude, Gemini, Grok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editor support (VS Code, JetBrains, Vim...)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7724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(~2,000 completions/mo). Pro ~$10/mo. Business $19/user/mo. Enterprise $39/user/mo.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7724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developers &amp; teams already living in GitHub who want AI woven into PRs and issues.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7724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26" name="Image 6" descr="/home/claude/aitools/icon_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87044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8" name="Image 7" descr="/home/claude/aitools/icon_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" y="587044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3652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30" name="Image 8" descr="/home/claude/aitools/icon_times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587044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6720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12648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2648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23"/>
          <p:cNvSpPr/>
          <p:nvPr/>
        </p:nvSpPr>
        <p:spPr>
          <a:xfrm>
            <a:off x="6126480" y="2258568"/>
            <a:ext cx="53492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2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/home/claude/aitools/icon_code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17" y="2124837"/>
            <a:ext cx="276606" cy="27660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Code Assist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694944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pic>
        <p:nvPicPr>
          <p:cNvPr id="39" name="Image 10" descr="/home/claude/aitools/icon_starfull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5483" y="2002536"/>
            <a:ext cx="137160" cy="137160"/>
          </a:xfrm>
          <a:prstGeom prst="rect">
            <a:avLst/>
          </a:prstGeom>
        </p:spPr>
      </p:pic>
      <p:pic>
        <p:nvPicPr>
          <p:cNvPr id="40" name="Image 11" descr="/home/claude/aitools/icon_starfull_gol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9102" y="2002536"/>
            <a:ext cx="137160" cy="137160"/>
          </a:xfrm>
          <a:prstGeom prst="rect">
            <a:avLst/>
          </a:prstGeom>
        </p:spPr>
      </p:pic>
      <p:pic>
        <p:nvPicPr>
          <p:cNvPr id="41" name="Image 12" descr="/home/claude/aitools/icon_starfull_gol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02722" y="2002536"/>
            <a:ext cx="137160" cy="137160"/>
          </a:xfrm>
          <a:prstGeom prst="rect">
            <a:avLst/>
          </a:prstGeom>
        </p:spPr>
      </p:pic>
      <p:pic>
        <p:nvPicPr>
          <p:cNvPr id="42" name="Image 13" descr="/home/claude/aitools/icon_starfull_gol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56341" y="2002536"/>
            <a:ext cx="137160" cy="137160"/>
          </a:xfrm>
          <a:prstGeom prst="rect">
            <a:avLst/>
          </a:prstGeom>
        </p:spPr>
      </p:pic>
      <p:pic>
        <p:nvPicPr>
          <p:cNvPr id="43" name="Image 14" descr="/home/claude/aitools/icon_starempty_white.png">    </p:cNvPr>
          <p:cNvPicPr>
            <a:picLocks noChangeAspect="1"/>
          </p:cNvPicPr>
          <p:nvPr/>
        </p:nvPicPr>
        <p:blipFill>
          <a:blip r:embed="rId15">
            <a:alphaModFix amt="55000"/>
          </a:blip>
          <a:stretch>
            <a:fillRect/>
          </a:stretch>
        </p:blipFill>
        <p:spPr>
          <a:xfrm>
            <a:off x="11109960" y="2002536"/>
            <a:ext cx="137160" cy="13716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58108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4.4/5 · G2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635508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46" name="Text 29"/>
          <p:cNvSpPr/>
          <p:nvPr/>
        </p:nvSpPr>
        <p:spPr>
          <a:xfrm>
            <a:off x="635508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1M-token context — can load whole repositories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SWE-bench reasoning scores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security &amp; identity integration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published free daily request limits</a:t>
            </a:r>
            <a:endParaRPr lang="en-US" sz="1100" dirty="0"/>
          </a:p>
        </p:txBody>
      </p:sp>
      <p:sp>
        <p:nvSpPr>
          <p:cNvPr id="47" name="Text 30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48" name="Text 31"/>
          <p:cNvSpPr/>
          <p:nvPr/>
        </p:nvSpPr>
        <p:spPr>
          <a:xfrm>
            <a:off x="635508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daily limits (thousands of completions/day). Standard ~$19-23/mo; Enterprise ~$19/user/mo.</a:t>
            </a:r>
            <a:endParaRPr lang="en-US" sz="1100" dirty="0"/>
          </a:p>
        </p:txBody>
      </p:sp>
      <p:sp>
        <p:nvSpPr>
          <p:cNvPr id="49" name="Text 32"/>
          <p:cNvSpPr/>
          <p:nvPr/>
        </p:nvSpPr>
        <p:spPr>
          <a:xfrm>
            <a:off x="635508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0" name="Text 33"/>
          <p:cNvSpPr/>
          <p:nvPr/>
        </p:nvSpPr>
        <p:spPr>
          <a:xfrm>
            <a:off x="635508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developers &amp; large codebases that benefit from a million-token context window.</a:t>
            </a:r>
            <a:endParaRPr lang="en-US" sz="1100" dirty="0"/>
          </a:p>
        </p:txBody>
      </p:sp>
      <p:sp>
        <p:nvSpPr>
          <p:cNvPr id="51" name="Text 34"/>
          <p:cNvSpPr/>
          <p:nvPr/>
        </p:nvSpPr>
        <p:spPr>
          <a:xfrm>
            <a:off x="635508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52" name="Image 15" descr="/home/claude/aitools/icon_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80" y="5870448"/>
            <a:ext cx="182880" cy="18288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8368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54" name="Image 16" descr="/home/claude/aitools/icon_check_tea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760" y="5870448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821436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56" name="Image 17" descr="/home/claude/aitools/icon_times_gra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6440" y="5870448"/>
            <a:ext cx="182880" cy="182880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98450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58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59" name="Text 39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4 · RESEARCH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NotebookLM vs. Consensus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assistants — one transforms your own documents, the other searches published literature.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ratings are aggregate platform scores (Trustpilot/G2) — Trustpilot skews toward billing &amp; support complaints, not day-to-day output quality; see slide 9 for full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58568"/>
            <a:ext cx="5349240" cy="3931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aitools/icon_boo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2483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pic>
        <p:nvPicPr>
          <p:cNvPr id="13" name="Image 1" descr="/home/claude/aitools/icon_starful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3" y="2002536"/>
            <a:ext cx="137160" cy="137160"/>
          </a:xfrm>
          <a:prstGeom prst="rect">
            <a:avLst/>
          </a:prstGeom>
        </p:spPr>
      </p:pic>
      <p:pic>
        <p:nvPicPr>
          <p:cNvPr id="14" name="Image 2" descr="/home/claude/aitools/icon_starfu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262" y="2002536"/>
            <a:ext cx="137160" cy="137160"/>
          </a:xfrm>
          <a:prstGeom prst="rect">
            <a:avLst/>
          </a:prstGeom>
        </p:spPr>
      </p:pic>
      <p:pic>
        <p:nvPicPr>
          <p:cNvPr id="15" name="Image 3" descr="/home/claude/aitools/icon_starful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882" y="2002536"/>
            <a:ext cx="137160" cy="137160"/>
          </a:xfrm>
          <a:prstGeom prst="rect">
            <a:avLst/>
          </a:prstGeom>
        </p:spPr>
      </p:pic>
      <p:pic>
        <p:nvPicPr>
          <p:cNvPr id="16" name="Image 4" descr="/home/claude/aitools/icon_starfull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501" y="2002536"/>
            <a:ext cx="137160" cy="137160"/>
          </a:xfrm>
          <a:prstGeom prst="rect">
            <a:avLst/>
          </a:prstGeom>
        </p:spPr>
      </p:pic>
      <p:pic>
        <p:nvPicPr>
          <p:cNvPr id="17" name="Image 5" descr="/home/claude/aitools/icon_starhalf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002536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0324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 · G2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77724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7724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grounded only in sources you upload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outputs: audio overviews, mind maps, quizzes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50-100+ sources per notebook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studying or presenting existing material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7724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 tier (100 notebooks, 50 sources each). Plus/Pro bundled with Google AI plans from $7.99-$99.99/mo.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7724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professionals studying or summarizing a fixed set of documents they already have.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7724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26" name="Image 6" descr="/home/claude/aitools/icon_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87044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8" name="Image 7" descr="/home/claude/aitools/icon_times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" y="587044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3652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30" name="Image 8" descr="/home/claude/aitools/icon_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587044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6720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12648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2648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23"/>
          <p:cNvSpPr/>
          <p:nvPr/>
        </p:nvSpPr>
        <p:spPr>
          <a:xfrm>
            <a:off x="6126480" y="2258568"/>
            <a:ext cx="53492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2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/home/claude/aitools/icon_search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17" y="2124837"/>
            <a:ext cx="276606" cy="27660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694944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955548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aggregate score; praised in r/PhD-style research threads.</a:t>
            </a:r>
            <a:endParaRPr lang="en-US" sz="800" dirty="0"/>
          </a:p>
        </p:txBody>
      </p:sp>
      <p:sp>
        <p:nvSpPr>
          <p:cNvPr id="40" name="Text 28"/>
          <p:cNvSpPr/>
          <p:nvPr/>
        </p:nvSpPr>
        <p:spPr>
          <a:xfrm>
            <a:off x="635508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635508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200M+ peer-reviewed papers directly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Meter shows agreement across studies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journal quality filters &amp; Deep Search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pre-selection of sources required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635508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with limited Pro analyses. Pro ~$10/mo (annual). Deep plan ~$45/mo. Custom Enterprise.</a:t>
            </a:r>
            <a:endParaRPr lang="en-US" sz="1100" dirty="0"/>
          </a:p>
        </p:txBody>
      </p:sp>
      <p:sp>
        <p:nvSpPr>
          <p:cNvPr id="44" name="Text 32"/>
          <p:cNvSpPr/>
          <p:nvPr/>
        </p:nvSpPr>
        <p:spPr>
          <a:xfrm>
            <a:off x="635508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635508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researchers, clinicians &amp; policy analysts doing evidence-based literature reviews.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635508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47" name="Image 10" descr="/home/claude/aitools/icon_check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870448"/>
            <a:ext cx="182880" cy="18288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58368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49" name="Image 11" descr="/home/claude/aitools/icon_times_gra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5760" y="5870448"/>
            <a:ext cx="182880" cy="18288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821436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51" name="Image 12" descr="/home/claude/aitools/icon_times_gra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6440" y="5870448"/>
            <a:ext cx="182880" cy="18288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98450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53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54" name="Text 39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5 · IMAGE GENERATION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DALL·E vs. Runway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for generating and transforming visual content from text prompts.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9961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ratings are aggregate platform scores (Trustpilot/G2) — Trustpilot skews toward billing &amp; support complaints, not day-to-day output quality; see slide 9 for full context.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58568"/>
            <a:ext cx="5349240" cy="39319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aitools/icon_im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77" y="212483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7160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pic>
        <p:nvPicPr>
          <p:cNvPr id="13" name="Image 1" descr="/home/claude/aitools/icon_starfull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3" y="2002536"/>
            <a:ext cx="137160" cy="137160"/>
          </a:xfrm>
          <a:prstGeom prst="rect">
            <a:avLst/>
          </a:prstGeom>
        </p:spPr>
      </p:pic>
      <p:pic>
        <p:nvPicPr>
          <p:cNvPr id="14" name="Image 2" descr="/home/claude/aitools/icon_starempty_white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071262" y="2002536"/>
            <a:ext cx="137160" cy="137160"/>
          </a:xfrm>
          <a:prstGeom prst="rect">
            <a:avLst/>
          </a:prstGeom>
        </p:spPr>
      </p:pic>
      <p:pic>
        <p:nvPicPr>
          <p:cNvPr id="15" name="Image 3" descr="/home/claude/aitools/icon_starempty_white.png">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224882" y="2002536"/>
            <a:ext cx="137160" cy="137160"/>
          </a:xfrm>
          <a:prstGeom prst="rect">
            <a:avLst/>
          </a:prstGeom>
        </p:spPr>
      </p:pic>
      <p:pic>
        <p:nvPicPr>
          <p:cNvPr id="16" name="Image 4" descr="/home/claude/aitools/icon_starempty_white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5378501" y="2002536"/>
            <a:ext cx="137160" cy="137160"/>
          </a:xfrm>
          <a:prstGeom prst="rect">
            <a:avLst/>
          </a:prstGeom>
        </p:spPr>
      </p:pic>
      <p:pic>
        <p:nvPicPr>
          <p:cNvPr id="17" name="Image 5" descr="/home/claude/aitools/icon_starempty_white.png">    </p:cNvPr>
          <p:cNvPicPr>
            <a:picLocks noChangeAspect="1"/>
          </p:cNvPicPr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5532120" y="2002536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0324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1.3/5 · Trustpilot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77724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7724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 understanding, incl. long prompts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ChatGPT for a smooth workflow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text-in-image &amp; hand rendering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accessible via Bing Image Creator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7724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7724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ChatGPT Plus. API billed per image from $0.04/image (1024×1024 standard quality).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7724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7724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creators &amp; ChatGPT users who want quick, prompt-accurate images without a new app.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77724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26" name="Image 6" descr="/home/claude/aitools/icon_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87044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28" name="Image 7" descr="/home/claude/aitools/icon_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7920" y="5870448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63652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30" name="Image 8" descr="/home/claude/aitools/icon_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5870448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26720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6126480" y="187452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26480" y="187452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Shape 23"/>
          <p:cNvSpPr/>
          <p:nvPr/>
        </p:nvSpPr>
        <p:spPr>
          <a:xfrm>
            <a:off x="6126480" y="2258568"/>
            <a:ext cx="534924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24"/>
          <p:cNvSpPr/>
          <p:nvPr/>
        </p:nvSpPr>
        <p:spPr>
          <a:xfrm>
            <a:off x="6309360" y="2011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9" descr="/home/claude/aitools/icon_image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2517" y="2124837"/>
            <a:ext cx="276606" cy="27660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494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650" dirty="0"/>
          </a:p>
        </p:txBody>
      </p:sp>
      <p:sp>
        <p:nvSpPr>
          <p:cNvPr id="38" name="Text 26"/>
          <p:cNvSpPr/>
          <p:nvPr/>
        </p:nvSpPr>
        <p:spPr>
          <a:xfrm>
            <a:off x="6949440" y="2295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AI, Inc.</a:t>
            </a:r>
            <a:endParaRPr lang="en-US" sz="1100" dirty="0"/>
          </a:p>
        </p:txBody>
      </p:sp>
      <p:pic>
        <p:nvPicPr>
          <p:cNvPr id="39" name="Image 10" descr="/home/claude/aitools/icon_starfull_gol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5483" y="2002536"/>
            <a:ext cx="137160" cy="137160"/>
          </a:xfrm>
          <a:prstGeom prst="rect">
            <a:avLst/>
          </a:prstGeom>
        </p:spPr>
      </p:pic>
      <p:pic>
        <p:nvPicPr>
          <p:cNvPr id="40" name="Image 11" descr="/home/claude/aitools/icon_starempty_white.png">    </p:cNvPr>
          <p:cNvPicPr>
            <a:picLocks noChangeAspect="1"/>
          </p:cNvPicPr>
          <p:nvPr/>
        </p:nvPicPr>
        <p:blipFill>
          <a:blip r:embed="rId12">
            <a:alphaModFix amt="55000"/>
          </a:blip>
          <a:stretch>
            <a:fillRect/>
          </a:stretch>
        </p:blipFill>
        <p:spPr>
          <a:xfrm>
            <a:off x="10649102" y="2002536"/>
            <a:ext cx="137160" cy="137160"/>
          </a:xfrm>
          <a:prstGeom prst="rect">
            <a:avLst/>
          </a:prstGeom>
        </p:spPr>
      </p:pic>
      <p:pic>
        <p:nvPicPr>
          <p:cNvPr id="41" name="Image 12" descr="/home/claude/aitools/icon_starempty_white.png">    </p:cNvPr>
          <p:cNvPicPr>
            <a:picLocks noChangeAspect="1"/>
          </p:cNvPicPr>
          <p:nvPr/>
        </p:nvPicPr>
        <p:blipFill>
          <a:blip r:embed="rId13">
            <a:alphaModFix amt="55000"/>
          </a:blip>
          <a:stretch>
            <a:fillRect/>
          </a:stretch>
        </p:blipFill>
        <p:spPr>
          <a:xfrm>
            <a:off x="10802722" y="2002536"/>
            <a:ext cx="137160" cy="137160"/>
          </a:xfrm>
          <a:prstGeom prst="rect">
            <a:avLst/>
          </a:prstGeom>
        </p:spPr>
      </p:pic>
      <p:pic>
        <p:nvPicPr>
          <p:cNvPr id="42" name="Image 13" descr="/home/claude/aitools/icon_starempty_white.png">    </p:cNvPr>
          <p:cNvPicPr>
            <a:picLocks noChangeAspect="1"/>
          </p:cNvPicPr>
          <p:nvPr/>
        </p:nvPicPr>
        <p:blipFill>
          <a:blip r:embed="rId14">
            <a:alphaModFix amt="55000"/>
          </a:blip>
          <a:stretch>
            <a:fillRect/>
          </a:stretch>
        </p:blipFill>
        <p:spPr>
          <a:xfrm>
            <a:off x="10956341" y="2002536"/>
            <a:ext cx="137160" cy="137160"/>
          </a:xfrm>
          <a:prstGeom prst="rect">
            <a:avLst/>
          </a:prstGeom>
        </p:spPr>
      </p:pic>
      <p:pic>
        <p:nvPicPr>
          <p:cNvPr id="43" name="Image 14" descr="/home/claude/aitools/icon_starempty_white.png">    </p:cNvPr>
          <p:cNvPicPr>
            <a:picLocks noChangeAspect="1"/>
          </p:cNvPicPr>
          <p:nvPr/>
        </p:nvPicPr>
        <p:blipFill>
          <a:blip r:embed="rId15">
            <a:alphaModFix amt="55000"/>
          </a:blip>
          <a:stretch>
            <a:fillRect/>
          </a:stretch>
        </p:blipFill>
        <p:spPr>
          <a:xfrm>
            <a:off x="11109960" y="2002536"/>
            <a:ext cx="137160" cy="137160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9581083" y="2176272"/>
            <a:ext cx="166603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5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1.2/5 · Trustpilot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6355080" y="27889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USE CASES</a:t>
            </a:r>
            <a:endParaRPr lang="en-US" sz="1000" dirty="0"/>
          </a:p>
        </p:txBody>
      </p:sp>
      <p:sp>
        <p:nvSpPr>
          <p:cNvPr id="46" name="Text 29"/>
          <p:cNvSpPr/>
          <p:nvPr/>
        </p:nvSpPr>
        <p:spPr>
          <a:xfrm>
            <a:off x="6355080" y="304495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video generation (Gen-4.5) with strong creative control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 and style transfer tools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with small businesses &amp; creative studios</a:t>
            </a:r>
            <a:endParaRPr lang="en-US" sz="110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usage across all generation types</a:t>
            </a:r>
            <a:endParaRPr lang="en-US" sz="1100" dirty="0"/>
          </a:p>
        </p:txBody>
      </p:sp>
      <p:sp>
        <p:nvSpPr>
          <p:cNvPr id="47" name="Text 30"/>
          <p:cNvSpPr/>
          <p:nvPr/>
        </p:nvSpPr>
        <p:spPr>
          <a:xfrm>
            <a:off x="6355080" y="416052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&amp; PRICING</a:t>
            </a:r>
            <a:endParaRPr lang="en-US" sz="1000" dirty="0"/>
          </a:p>
        </p:txBody>
      </p:sp>
      <p:sp>
        <p:nvSpPr>
          <p:cNvPr id="48" name="Text 31"/>
          <p:cNvSpPr/>
          <p:nvPr/>
        </p:nvSpPr>
        <p:spPr>
          <a:xfrm>
            <a:off x="6355080" y="441655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plans; entry paid tier from ~$15/mo. Usage scales with video length &amp; quality.</a:t>
            </a:r>
            <a:endParaRPr lang="en-US" sz="1100" dirty="0"/>
          </a:p>
        </p:txBody>
      </p:sp>
      <p:sp>
        <p:nvSpPr>
          <p:cNvPr id="49" name="Text 32"/>
          <p:cNvSpPr/>
          <p:nvPr/>
        </p:nvSpPr>
        <p:spPr>
          <a:xfrm>
            <a:off x="6355080" y="4946904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50" name="Text 33"/>
          <p:cNvSpPr/>
          <p:nvPr/>
        </p:nvSpPr>
        <p:spPr>
          <a:xfrm>
            <a:off x="6355080" y="519379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editors, small businesses &amp; creative studios needing image-to-video and style control.</a:t>
            </a:r>
            <a:endParaRPr lang="en-US" sz="1100" dirty="0"/>
          </a:p>
        </p:txBody>
      </p:sp>
      <p:sp>
        <p:nvSpPr>
          <p:cNvPr id="51" name="Text 34"/>
          <p:cNvSpPr/>
          <p:nvPr/>
        </p:nvSpPr>
        <p:spPr>
          <a:xfrm>
            <a:off x="6355080" y="5614416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pic>
        <p:nvPicPr>
          <p:cNvPr id="52" name="Image 15" descr="/home/claude/aitools/icon_check_tea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5080" y="5870448"/>
            <a:ext cx="182880" cy="18288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8368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pic>
        <p:nvPicPr>
          <p:cNvPr id="54" name="Image 16" descr="/home/claude/aitools/icon_times_gra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5760" y="5870448"/>
            <a:ext cx="182880" cy="182880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821436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Win/macOS</a:t>
            </a:r>
            <a:endParaRPr lang="en-US" sz="1000" dirty="0"/>
          </a:p>
        </p:txBody>
      </p:sp>
      <p:pic>
        <p:nvPicPr>
          <p:cNvPr id="56" name="Image 17" descr="/home/claude/aitools/icon_check_tea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6440" y="5870448"/>
            <a:ext cx="182880" cy="182880"/>
          </a:xfrm>
          <a:prstGeom prst="rect">
            <a:avLst/>
          </a:prstGeom>
        </p:spPr>
      </p:pic>
      <p:sp>
        <p:nvSpPr>
          <p:cNvPr id="57" name="Text 37"/>
          <p:cNvSpPr/>
          <p:nvPr/>
        </p:nvSpPr>
        <p:spPr>
          <a:xfrm>
            <a:off x="9845040" y="5824728"/>
            <a:ext cx="135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</a:t>
            </a:r>
            <a:endParaRPr lang="en-US" sz="1000" dirty="0"/>
          </a:p>
        </p:txBody>
      </p:sp>
      <p:sp>
        <p:nvSpPr>
          <p:cNvPr id="58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59" name="Text 39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Prompt, Two Assistants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used: "Summarize the key benefits of remote work for a small business, in 3 concise bullet points."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5349240" cy="3200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aitools/icon_comment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" y="202311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94767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6060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8803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overhead costs (office space &amp; utilities)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 wider, more flexible talent pool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employee satisfaction &amp; retention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4434840"/>
            <a:ext cx="4892040" cy="1371600"/>
          </a:xfrm>
          <a:prstGeom prst="roundRect">
            <a:avLst>
              <a:gd name="adj" fmla="val 4667"/>
            </a:avLst>
          </a:prstGeom>
          <a:solidFill>
            <a:srgbClr val="E8F1F4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45537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2688" y="4828032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style: concise, well-organized, business-toned — reflects Gemini's Workspace-oriented defaults.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828800"/>
            <a:ext cx="5349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82880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1C729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26480" y="2148840"/>
            <a:ext cx="53492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6"/>
          <p:cNvSpPr/>
          <p:nvPr/>
        </p:nvSpPr>
        <p:spPr>
          <a:xfrm>
            <a:off x="6291072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/home/claude/aitools/icon_robo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942" y="202311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76288" y="1947672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55080" y="26060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55080" y="28803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fixed costs like rent and utilities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hiring radius beyond the local market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retention through improved work-life balance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355080" y="4434840"/>
            <a:ext cx="4892040" cy="1371600"/>
          </a:xfrm>
          <a:prstGeom prst="roundRect">
            <a:avLst>
              <a:gd name="adj" fmla="val 4667"/>
            </a:avLst>
          </a:prstGeom>
          <a:solidFill>
            <a:srgbClr val="E8F1F4"/>
          </a:solidFill>
          <a:ln/>
        </p:spPr>
      </p:sp>
      <p:sp>
        <p:nvSpPr>
          <p:cNvPr id="25" name="Text 21"/>
          <p:cNvSpPr/>
          <p:nvPr/>
        </p:nvSpPr>
        <p:spPr>
          <a:xfrm>
            <a:off x="6510528" y="4553712"/>
            <a:ext cx="4617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510528" y="4828032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style: similar substance, slightly more measured phrasing — reflects Claude's careful, precise writing style.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Strengths, Limitations &amp; Real User Sentiment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84280" cy="4709160"/>
        </p:xfrm>
        <a:graphic>
          <a:graphicData uri="http://schemas.openxmlformats.org/drawingml/2006/table">
            <a:tbl>
              <a:tblPr/>
              <a:tblGrid>
                <a:gridCol w="1691640"/>
                <a:gridCol w="2880360"/>
                <a:gridCol w="2880360"/>
                <a:gridCol w="3931920"/>
              </a:tblGrid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Sentiment (Trustpilot / Reddit)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Deepest Google Workspace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model access on free tier is 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~1.6/5 (634 reviews) — accuracy/hallucination gripes; Reddit likes Workspace tie-in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 writing &amp; long-document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native image/video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~1.6/5 (942 reviews, mostly billing/limits); r/ClaudeAI rates it #1 for writing &amp;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template library, easiest for beginners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slide generation weaker than dedicated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3.8–4/5 (5,900+ reviews) — one of the highest-rated tools in this deck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prompt-to-deck generation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credits are one-time, not 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~2.0/5 — mainly PPT export/formatting complaints; 4.3/5 on Microsoft Store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 GitHub/PR workflow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context window than Gemini Code Assist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~2.1/5 (billing/support); G2 4.5/5 for day-to-day coding usability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Code Assist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1M-token context, strong benchmark scores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individual tier ties to a Google AI subscription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4.4/5 — praised for Android Studio &amp; whole-project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your own sources into study material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discover new papers outside your uploads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r/notebooklm consistently positive — "expands your working memory 100x"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200M+ papers with agreement scoring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Narrower scope — academic literature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Praised on r/PhD-oriented threads for validating prior research quickly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DALL·E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prompt comprehension, ChatGPT-native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Per-image API cost adds up at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Trustpilot ~1.3/5 — mostly billing/support, not image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7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creative control for image-to-video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system can obscure true monthly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 ~1.2/5 (pricing complaints) vs. Product Hunt 4.7/5 for output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6108192"/>
            <a:ext cx="11384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Trustpilot company review pages (claude.ai, gemini.google.com, canva.com, github.com, openai.com, runwayml.com), G2.com comparisons, and Reddit communities (r/ClaudeAI, r/notebooklm, r/PhDProductivity). Trustpilot scores here skew toward billing/support complaints rather than raw output quality — see full citations on the next slide.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Comparison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873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230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"best" AI tool — the right choice depends on ecosystem (Google vs. Microsoft/GitHub), budget, and task type.</a:t>
            </a:r>
            <a:endParaRPr lang="en-US" sz="14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are genuinely usable across every category, but daily/monthly limits push serious users toward paid plans ($8-$20/mo typical entry point).</a:t>
            </a:r>
            <a:endParaRPr lang="en-US" sz="14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and research tools increasingly compete on context window size and integration depth rather than price alone.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1064240" cy="3063240"/>
          </a:xfrm>
          <a:prstGeom prst="roundRect">
            <a:avLst>
              <a:gd name="adj" fmla="val 2687"/>
            </a:avLst>
          </a:prstGeom>
          <a:solidFill>
            <a:srgbClr val="12305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3832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aitools/icon_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880" y="3477920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Official Sites &amp; Review Sources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95020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WEBSITES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 ·  ai.google.dev/pricing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0" y="422452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claude.com  ·  claude.ai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45171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gamma.app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48097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github.com/features/copilot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48097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cloud.google.com (Gemini Code Assist)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83280" y="51023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consensus.app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5394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openai.com (DALL·E)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83280" y="53949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runwayml.com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395020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SOURCES — TRUSTPILOT &amp; REDDIT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63640" y="42245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trustpilot.com/review/claude.ai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61120" y="42245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trustpilot.com/review/gemini.google.com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63640" y="45171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trustpilot.com/review/canva.com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961120" y="45171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trustpilot.com/review/github.com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63640" y="48097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trustpilot.com/review/openai.com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961120" y="48097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trustpilot.com/review/runwayml.com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g2.com (Copilot vs. Gemini Code Assist)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961120" y="51023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reddit.com/r/ClaudeAI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63640" y="5394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reddit.com/r/notebooklm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961120" y="5394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reddit.com/r/PhDProductivity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D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 ratings for AI chat tools skew low platform-wide (often 1.2–2/5) because reviewers disproportionately report billing and support issues rather than day-to-day output quality — cross-check with Reddit and G2 for product-quality sentiment.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864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feature, and review details verified July 2026; figures change frequently — always confirm on the official site.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2026-07-21T19:19:49Z</dcterms:created>
  <dcterms:modified xsi:type="dcterms:W3CDTF">2026-07-21T19:19:49Z</dcterms:modified>
</cp:coreProperties>
</file>